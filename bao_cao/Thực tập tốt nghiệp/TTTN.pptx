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6" r:id="rId2"/>
    <p:sldId id="257" r:id="rId3"/>
    <p:sldId id="258" r:id="rId4"/>
    <p:sldId id="259" r:id="rId5"/>
    <p:sldId id="298" r:id="rId6"/>
    <p:sldId id="261" r:id="rId7"/>
    <p:sldId id="262" r:id="rId8"/>
    <p:sldId id="264" r:id="rId9"/>
    <p:sldId id="265" r:id="rId10"/>
    <p:sldId id="266" r:id="rId11"/>
    <p:sldId id="302" r:id="rId12"/>
    <p:sldId id="267" r:id="rId13"/>
    <p:sldId id="268" r:id="rId14"/>
    <p:sldId id="269" r:id="rId15"/>
    <p:sldId id="270" r:id="rId16"/>
    <p:sldId id="272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755" autoAdjust="0"/>
  </p:normalViewPr>
  <p:slideViewPr>
    <p:cSldViewPr snapToGrid="0" snapToObjects="1">
      <p:cViewPr varScale="1">
        <p:scale>
          <a:sx n="101" d="100"/>
          <a:sy n="101" d="100"/>
        </p:scale>
        <p:origin x="125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208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MobileNetV2</c:v>
                </c:pt>
                <c:pt idx="1">
                  <c:v>ResNet18</c:v>
                </c:pt>
                <c:pt idx="2">
                  <c:v>EfficientNet-B0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94.55</c:v>
                </c:pt>
                <c:pt idx="1">
                  <c:v>94.48</c:v>
                </c:pt>
                <c:pt idx="2">
                  <c:v>94.16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D3-440B-8C80-8F6C5B16C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5"/>
          <c:min val="93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  <c:majorUnit val="0.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D05B8-C0EB-412B-AFF0-F8B6CD59E4D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59D2C-9965-480F-A2C2-59DC2CA35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4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4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. Khi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,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.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Coffee Table </a:t>
            </a:r>
            <a:r>
              <a:rPr lang="en-US" dirty="0" err="1"/>
              <a:t>và</a:t>
            </a:r>
            <a:r>
              <a:rPr lang="en-US" dirty="0"/>
              <a:t> Dining Table,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mắt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nhầm</a:t>
            </a:r>
            <a:r>
              <a:rPr lang="en-US" dirty="0"/>
              <a:t> </a:t>
            </a:r>
            <a:r>
              <a:rPr lang="en-US" dirty="0" err="1"/>
              <a:t>lẫn</a:t>
            </a:r>
            <a:r>
              <a:rPr lang="en-US" dirty="0"/>
              <a:t>.</a:t>
            </a:r>
          </a:p>
          <a:p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CNN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  <a:p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,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qua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CNN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.</a:t>
            </a:r>
          </a:p>
          <a:p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Grad-CAM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/>
              <a:t>OOD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6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7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Trong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10.364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ảnh</a:t>
            </a:r>
            <a:r>
              <a:rPr lang="en-US" dirty="0"/>
              <a:t>,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b="1" dirty="0"/>
              <a:t>6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 </a:t>
            </a:r>
            <a:r>
              <a:rPr lang="en-US" b="1" dirty="0" err="1"/>
              <a:t>nội</a:t>
            </a:r>
            <a:r>
              <a:rPr lang="en-US" b="1" dirty="0"/>
              <a:t> </a:t>
            </a:r>
            <a:r>
              <a:rPr lang="en-US" b="1" dirty="0" err="1"/>
              <a:t>thất</a:t>
            </a:r>
            <a:r>
              <a:rPr lang="en-US" dirty="0"/>
              <a:t>, </a:t>
            </a:r>
            <a:r>
              <a:rPr lang="en-US" dirty="0" err="1"/>
              <a:t>gồm</a:t>
            </a:r>
            <a:r>
              <a:rPr lang="en-US" dirty="0"/>
              <a:t> Bar Stool, Bed, Chair, Coffee Table, Dining Table </a:t>
            </a:r>
            <a:r>
              <a:rPr lang="en-US" dirty="0" err="1"/>
              <a:t>và</a:t>
            </a:r>
            <a:r>
              <a:rPr lang="en-US" dirty="0"/>
              <a:t> Dresser.</a:t>
            </a:r>
          </a:p>
          <a:p>
            <a:r>
              <a:rPr lang="en-US" dirty="0"/>
              <a:t>Em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CNN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MobileNetV2, ResNet18 </a:t>
            </a:r>
            <a:r>
              <a:rPr lang="en-US" b="1" dirty="0" err="1"/>
              <a:t>và</a:t>
            </a:r>
            <a:r>
              <a:rPr lang="en-US" b="1" dirty="0"/>
              <a:t> EfficientNet-B0</a:t>
            </a:r>
            <a:r>
              <a:rPr lang="en-US" dirty="0"/>
              <a:t>.</a:t>
            </a:r>
          </a:p>
          <a:p>
            <a:r>
              <a:rPr lang="en-US" dirty="0"/>
              <a:t>Phương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Transfer Learning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Fine-tuning</a:t>
            </a:r>
            <a:r>
              <a:rPr lang="en-US" dirty="0"/>
              <a:t>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ImageNet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.</a:t>
            </a:r>
          </a:p>
          <a:p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Grad-CAM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OOD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</a:t>
            </a:r>
            <a:r>
              <a:rPr lang="en-US" dirty="0" err="1"/>
              <a:t>sáu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.</a:t>
            </a:r>
          </a:p>
          <a:p>
            <a:r>
              <a:rPr lang="en-US" dirty="0"/>
              <a:t>Phạm vi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loại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ảnh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dirty="0"/>
              <a:t>,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sang Object Detection </a:t>
            </a:r>
            <a:r>
              <a:rPr lang="en-US" dirty="0" err="1"/>
              <a:t>hoặc</a:t>
            </a:r>
            <a:r>
              <a:rPr lang="en-US" dirty="0"/>
              <a:t> Segmentation.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4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DE369-5951-8A20-2A2B-DA2E0BEF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C8F4C-7F87-5438-D4D7-855729941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E1F0E-D519-542A-3F19-F97DB7A07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683A0-D197-1F1E-14DE-05389C527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55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CNN</a:t>
            </a:r>
          </a:p>
          <a:p>
            <a:r>
              <a:rPr lang="en-US" b="1" dirty="0"/>
              <a:t>🎤 Note</a:t>
            </a:r>
          </a:p>
          <a:p>
            <a:r>
              <a:rPr lang="en-US" dirty="0"/>
              <a:t>CNN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nơ-ron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chập</a:t>
            </a:r>
            <a:r>
              <a:rPr lang="en-US" dirty="0"/>
              <a:t>,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.</a:t>
            </a:r>
          </a:p>
          <a:p>
            <a:r>
              <a:rPr lang="en-US" dirty="0"/>
              <a:t>CNN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trưng</a:t>
            </a:r>
            <a:r>
              <a:rPr lang="en-US" b="1" dirty="0"/>
              <a:t> </a:t>
            </a:r>
            <a:r>
              <a:rPr lang="en-US" b="1" dirty="0" err="1"/>
              <a:t>từ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dirty="0"/>
              <a:t>.</a:t>
            </a:r>
          </a:p>
          <a:p>
            <a:r>
              <a:rPr lang="en-US" dirty="0"/>
              <a:t>Ở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,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nét</a:t>
            </a:r>
            <a:r>
              <a:rPr lang="en-US" dirty="0"/>
              <a:t>. Ở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chẳng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</a:p>
          <a:p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class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  <a:p>
            <a:r>
              <a:rPr lang="en-US" b="1" dirty="0"/>
              <a:t>Transfer Learning</a:t>
            </a:r>
          </a:p>
          <a:p>
            <a:r>
              <a:rPr lang="en-US" dirty="0"/>
              <a:t>Transfer Learning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</a:p>
          <a:p>
            <a:r>
              <a:rPr lang="en-US" dirty="0"/>
              <a:t>Trong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b="1" dirty="0"/>
              <a:t>ImageNet</a:t>
            </a:r>
            <a:r>
              <a:rPr lang="en-US" dirty="0"/>
              <a:t>.</a:t>
            </a:r>
          </a:p>
          <a:p>
            <a:r>
              <a:rPr lang="en-US" dirty="0"/>
              <a:t>Thay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CNN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oàn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.</a:t>
            </a:r>
          </a:p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r>
              <a:rPr lang="en-US" b="1" dirty="0"/>
              <a:t>Fine-tuning</a:t>
            </a:r>
          </a:p>
          <a:p>
            <a:r>
              <a:rPr lang="en-US" dirty="0"/>
              <a:t>Fine-tuning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pre-trained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.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:</a:t>
            </a:r>
          </a:p>
          <a:p>
            <a:r>
              <a:rPr lang="en-US" b="1" dirty="0"/>
              <a:t>Transfer Learning = </a:t>
            </a:r>
            <a:r>
              <a:rPr lang="en-US" b="1" dirty="0" err="1"/>
              <a:t>tận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</a:t>
            </a: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sẵn</a:t>
            </a:r>
            <a:r>
              <a:rPr lang="en-US" b="1" dirty="0"/>
              <a:t>.</a:t>
            </a:r>
            <a:endParaRPr lang="en-US" dirty="0"/>
          </a:p>
          <a:p>
            <a:r>
              <a:rPr lang="en-US" b="1" dirty="0"/>
              <a:t>Fine-tuning =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chỉnh</a:t>
            </a:r>
            <a:r>
              <a:rPr lang="en-US" b="1" dirty="0"/>
              <a:t> </a:t>
            </a:r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đó</a:t>
            </a:r>
            <a:r>
              <a:rPr lang="en-US" b="1" dirty="0"/>
              <a:t> </a:t>
            </a:r>
            <a:r>
              <a:rPr lang="en-US" b="1" dirty="0" err="1"/>
              <a:t>cho</a:t>
            </a:r>
            <a:r>
              <a:rPr lang="en-US" b="1" dirty="0"/>
              <a:t>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cụ</a:t>
            </a:r>
            <a:r>
              <a:rPr lang="en-US" b="1" dirty="0"/>
              <a:t> </a:t>
            </a:r>
            <a:r>
              <a:rPr lang="en-US" b="1" dirty="0" err="1"/>
              <a:t>thể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10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.</a:t>
            </a:r>
          </a:p>
          <a:p>
            <a:r>
              <a:rPr lang="en-US" b="1" dirty="0"/>
              <a:t>MobileNetV2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nhẹ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,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.</a:t>
            </a:r>
          </a:p>
          <a:p>
            <a:r>
              <a:rPr lang="en-US" b="1" dirty="0"/>
              <a:t>ResNet18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Residual </a:t>
            </a:r>
            <a:r>
              <a:rPr lang="en-US" dirty="0" err="1"/>
              <a:t>và</a:t>
            </a:r>
            <a:r>
              <a:rPr lang="en-US" dirty="0"/>
              <a:t> Skip Connection. 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</a:t>
            </a:r>
            <a:r>
              <a:rPr lang="en-US" dirty="0"/>
              <a:t> gradient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qua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  <a:p>
            <a:r>
              <a:rPr lang="en-US" b="1" dirty="0"/>
              <a:t>EfficientNet-B0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Compound Scaling,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.</a:t>
            </a:r>
          </a:p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Accuracy, Precision, Recall, F1, ROC-AUC, PR-AUC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72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CNN,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.</a:t>
            </a:r>
          </a:p>
          <a:p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b="1" dirty="0"/>
              <a:t>RGB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.</a:t>
            </a:r>
          </a:p>
          <a:p>
            <a:r>
              <a:rPr lang="en-US" dirty="0"/>
              <a:t>Sau </a:t>
            </a:r>
            <a:r>
              <a:rPr lang="en-US" dirty="0" err="1"/>
              <a:t>đó</a:t>
            </a:r>
            <a:r>
              <a:rPr lang="en-US" dirty="0"/>
              <a:t> resize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b="1" dirty="0"/>
              <a:t>224×224</a:t>
            </a:r>
            <a:r>
              <a:rPr lang="en-US" dirty="0"/>
              <a:t>,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Train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Data Augmentation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r>
              <a:rPr lang="en-US" dirty="0"/>
              <a:t>Random Horizontal Flip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0.5. </a:t>
            </a:r>
          </a:p>
          <a:p>
            <a:r>
              <a:rPr lang="en-US" dirty="0"/>
              <a:t>Random Rotation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±15 </a:t>
            </a:r>
            <a:r>
              <a:rPr lang="en-US" dirty="0" err="1"/>
              <a:t>độ</a:t>
            </a:r>
            <a:r>
              <a:rPr lang="en-US" dirty="0"/>
              <a:t>. </a:t>
            </a:r>
          </a:p>
          <a:p>
            <a:r>
              <a:rPr lang="en-US" dirty="0" err="1"/>
              <a:t>ColorJitter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20%. </a:t>
            </a:r>
          </a:p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augmentation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overfitting.</a:t>
            </a:r>
          </a:p>
          <a:p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Tensor </a:t>
            </a:r>
            <a:r>
              <a:rPr lang="en-US" dirty="0" err="1"/>
              <a:t>và</a:t>
            </a:r>
            <a:r>
              <a:rPr lang="en-US" dirty="0"/>
              <a:t> Normalize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pre-trained </a:t>
            </a:r>
            <a:r>
              <a:rPr lang="en-US" dirty="0" err="1"/>
              <a:t>trên</a:t>
            </a:r>
            <a:r>
              <a:rPr lang="en-US" dirty="0"/>
              <a:t> ImageNet.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54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ImageNet.</a:t>
            </a:r>
          </a:p>
          <a:p>
            <a:r>
              <a:rPr lang="en-US" b="1" dirty="0"/>
              <a:t>Giai </a:t>
            </a:r>
            <a:r>
              <a:rPr lang="en-US" b="1" dirty="0" err="1"/>
              <a:t>đoạn</a:t>
            </a:r>
            <a:r>
              <a:rPr lang="en-US" b="1" dirty="0"/>
              <a:t> 1 </a:t>
            </a:r>
            <a:r>
              <a:rPr lang="en-US" b="1" dirty="0" err="1"/>
              <a:t>gồm</a:t>
            </a:r>
            <a:r>
              <a:rPr lang="en-US" b="1" dirty="0"/>
              <a:t> 10 Epochs: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Freeze Backbone,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nghi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6 class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.</a:t>
            </a:r>
          </a:p>
          <a:p>
            <a:r>
              <a:rPr lang="en-US" b="1" dirty="0"/>
              <a:t>Giai </a:t>
            </a:r>
            <a:r>
              <a:rPr lang="en-US" b="1" dirty="0" err="1"/>
              <a:t>đoạn</a:t>
            </a:r>
            <a:r>
              <a:rPr lang="en-US" b="1" dirty="0"/>
              <a:t> 2 </a:t>
            </a:r>
            <a:r>
              <a:rPr lang="en-US" b="1" dirty="0" err="1"/>
              <a:t>gồm</a:t>
            </a:r>
            <a:r>
              <a:rPr lang="en-US" b="1" dirty="0"/>
              <a:t> 20 Epochs: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Unfreeze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.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30 Epochs, Batch Size 32,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Adam Optimizer </a:t>
            </a:r>
            <a:r>
              <a:rPr lang="en-US" dirty="0" err="1"/>
              <a:t>và</a:t>
            </a:r>
            <a:r>
              <a:rPr lang="en-US" dirty="0"/>
              <a:t> Cross-Entropy Loss.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75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Grad-CAM</a:t>
            </a:r>
          </a:p>
          <a:p>
            <a:r>
              <a:rPr lang="en-US" b="1" dirty="0"/>
              <a:t>🎤 Note</a:t>
            </a:r>
          </a:p>
          <a:p>
            <a:r>
              <a:rPr lang="en-US" dirty="0"/>
              <a:t>Grad-CAM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Explainable AI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</a:t>
            </a:r>
          </a:p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CNN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class, Grad-CAM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gradient </a:t>
            </a:r>
            <a:r>
              <a:rPr lang="en-US" dirty="0" err="1"/>
              <a:t>của</a:t>
            </a:r>
            <a:r>
              <a:rPr lang="en-US" dirty="0"/>
              <a:t> class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feature map ở </a:t>
            </a:r>
            <a:r>
              <a:rPr lang="en-US" dirty="0" err="1"/>
              <a:t>lớp</a:t>
            </a:r>
            <a:r>
              <a:rPr lang="en-US" dirty="0"/>
              <a:t> CNN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b="1" dirty="0"/>
              <a:t>heatmap</a:t>
            </a:r>
            <a:r>
              <a:rPr lang="en-US" dirty="0"/>
              <a:t>.</a:t>
            </a:r>
          </a:p>
          <a:p>
            <a:r>
              <a:rPr lang="en-US" dirty="0"/>
              <a:t>Heatmap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chồng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.</a:t>
            </a:r>
          </a:p>
          <a:p>
            <a:r>
              <a:rPr lang="en-US" dirty="0"/>
              <a:t>Thông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nóng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chiếc</a:t>
            </a:r>
            <a:r>
              <a:rPr lang="en-US" dirty="0"/>
              <a:t> </a:t>
            </a:r>
            <a:r>
              <a:rPr lang="en-US" dirty="0" err="1"/>
              <a:t>giường</a:t>
            </a:r>
            <a:r>
              <a:rPr lang="en-US" dirty="0"/>
              <a:t>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giường</a:t>
            </a:r>
            <a:r>
              <a:rPr lang="en-US" dirty="0"/>
              <a:t>,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giường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</a:t>
            </a:r>
          </a:p>
          <a:p>
            <a:r>
              <a:rPr lang="en-US" b="1" dirty="0"/>
              <a:t>OOD</a:t>
            </a:r>
          </a:p>
          <a:p>
            <a:r>
              <a:rPr lang="en-US" dirty="0"/>
              <a:t>OOD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b="1" dirty="0"/>
              <a:t>Out-of-Distribution</a:t>
            </a:r>
            <a:r>
              <a:rPr lang="en-US" dirty="0"/>
              <a:t>,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6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ô </a:t>
            </a:r>
            <a:r>
              <a:rPr lang="en-US" dirty="0" err="1"/>
              <a:t>tô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con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vi.</a:t>
            </a:r>
          </a:p>
          <a:p>
            <a:r>
              <a:rPr lang="en-US" dirty="0"/>
              <a:t>Trong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:</a:t>
            </a:r>
          </a:p>
          <a:p>
            <a:r>
              <a:rPr lang="en-US" b="1" dirty="0"/>
              <a:t>Confidence ≥ 50%</a:t>
            </a:r>
            <a:endParaRPr lang="en-US" dirty="0"/>
          </a:p>
          <a:p>
            <a:r>
              <a:rPr lang="en-US" dirty="0" err="1"/>
              <a:t>và</a:t>
            </a:r>
            <a:endParaRPr lang="en-US" dirty="0"/>
          </a:p>
          <a:p>
            <a:r>
              <a:rPr lang="en-US" b="1" dirty="0"/>
              <a:t>Margin ≥ 25%.</a:t>
            </a:r>
            <a:endParaRPr lang="en-US" dirty="0"/>
          </a:p>
          <a:p>
            <a:r>
              <a:rPr lang="en-US" dirty="0"/>
              <a:t>Margin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confidence </a:t>
            </a:r>
            <a:r>
              <a:rPr lang="en-US" dirty="0" err="1"/>
              <a:t>của</a:t>
            </a:r>
            <a:r>
              <a:rPr lang="en-US" dirty="0"/>
              <a:t> class </a:t>
            </a:r>
            <a:r>
              <a:rPr lang="en-US" dirty="0" err="1"/>
              <a:t>đứng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class </a:t>
            </a:r>
            <a:r>
              <a:rPr lang="en-US" dirty="0" err="1"/>
              <a:t>đứng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.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OOD.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84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rên</a:t>
            </a:r>
            <a:r>
              <a:rPr lang="en-US" dirty="0"/>
              <a:t> Test Set </a:t>
            </a:r>
            <a:r>
              <a:rPr lang="en-US" dirty="0" err="1"/>
              <a:t>gồm</a:t>
            </a:r>
            <a:r>
              <a:rPr lang="en-US" dirty="0"/>
              <a:t> 1.559 </a:t>
            </a:r>
            <a:r>
              <a:rPr lang="en-US" dirty="0" err="1"/>
              <a:t>ảnh</a:t>
            </a:r>
            <a:r>
              <a:rPr lang="en-US" dirty="0"/>
              <a:t>,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Accuracy </a:t>
            </a:r>
            <a:r>
              <a:rPr lang="en-US" dirty="0" err="1"/>
              <a:t>trên</a:t>
            </a:r>
            <a:r>
              <a:rPr lang="en-US" dirty="0"/>
              <a:t> 94%.</a:t>
            </a:r>
          </a:p>
          <a:p>
            <a:r>
              <a:rPr lang="en-US" dirty="0"/>
              <a:t>MobileNetV2 </a:t>
            </a:r>
            <a:r>
              <a:rPr lang="en-US" dirty="0" err="1"/>
              <a:t>đạt</a:t>
            </a:r>
            <a:r>
              <a:rPr lang="en-US" dirty="0"/>
              <a:t> Accuracy </a:t>
            </a:r>
            <a:r>
              <a:rPr lang="en-US" b="1" dirty="0"/>
              <a:t>94.55%</a:t>
            </a:r>
            <a:r>
              <a:rPr lang="en-US" dirty="0"/>
              <a:t>, ResNet18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b="1" dirty="0"/>
              <a:t>94.48%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EfficientNet-B0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b="1" dirty="0"/>
              <a:t>94.16%</a:t>
            </a:r>
            <a:r>
              <a:rPr lang="en-US" dirty="0"/>
              <a:t>.</a:t>
            </a:r>
          </a:p>
          <a:p>
            <a:r>
              <a:rPr lang="en-US" dirty="0" err="1"/>
              <a:t>Ngoài</a:t>
            </a:r>
            <a:r>
              <a:rPr lang="en-US" dirty="0"/>
              <a:t> Accuracy,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Precision, Recall </a:t>
            </a:r>
            <a:r>
              <a:rPr lang="en-US" dirty="0" err="1"/>
              <a:t>và</a:t>
            </a:r>
            <a:r>
              <a:rPr lang="en-US" dirty="0"/>
              <a:t> F1-Score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r>
              <a:rPr lang="en-US" dirty="0"/>
              <a:t>ROC-AUC </a:t>
            </a:r>
            <a:r>
              <a:rPr lang="en-US" dirty="0" err="1"/>
              <a:t>và</a:t>
            </a:r>
            <a:r>
              <a:rPr lang="en-US" dirty="0"/>
              <a:t> PR-AUC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ở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khá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.</a:t>
            </a:r>
          </a:p>
          <a:p>
            <a:r>
              <a:rPr lang="en-US" b="1" dirty="0"/>
              <a:t>❓ "Accuracy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?"</a:t>
            </a:r>
          </a:p>
          <a:p>
            <a:r>
              <a:rPr lang="en-US" dirty="0"/>
              <a:t>Accuracy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.</a:t>
            </a:r>
          </a:p>
          <a:p>
            <a:r>
              <a:rPr lang="en-US" dirty="0"/>
              <a:t>Công </a:t>
            </a:r>
            <a:r>
              <a:rPr lang="en-US" dirty="0" err="1"/>
              <a:t>thức</a:t>
            </a:r>
            <a:r>
              <a:rPr lang="en-US" dirty="0"/>
              <a:t>:</a:t>
            </a:r>
          </a:p>
          <a:p>
            <a:r>
              <a:rPr lang="en-US" b="1" dirty="0"/>
              <a:t>Accuracy =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đoán</a:t>
            </a:r>
            <a:r>
              <a:rPr lang="en-US" b="1" dirty="0"/>
              <a:t> </a:t>
            </a:r>
            <a:r>
              <a:rPr lang="en-US" b="1" dirty="0" err="1"/>
              <a:t>đúng</a:t>
            </a:r>
            <a:r>
              <a:rPr lang="en-US" b="1" dirty="0"/>
              <a:t> / </a:t>
            </a:r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mẫu</a:t>
            </a:r>
            <a:endParaRPr lang="en-US" dirty="0"/>
          </a:p>
          <a:p>
            <a:r>
              <a:rPr lang="en-US" b="1" dirty="0"/>
              <a:t>❓ "Precision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?"</a:t>
            </a:r>
          </a:p>
          <a:p>
            <a:r>
              <a:rPr lang="en-US" dirty="0"/>
              <a:t>Precision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: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class, </a:t>
            </a:r>
            <a:r>
              <a:rPr lang="en-US" dirty="0" err="1"/>
              <a:t>có</a:t>
            </a:r>
            <a:r>
              <a:rPr lang="en-US" dirty="0"/>
              <a:t> bao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class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r>
              <a:rPr lang="en-US" b="1" dirty="0"/>
              <a:t>❓ "Recall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?"</a:t>
            </a:r>
          </a:p>
          <a:p>
            <a:r>
              <a:rPr lang="en-US" dirty="0"/>
              <a:t>Recall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: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class,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bao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.</a:t>
            </a:r>
          </a:p>
          <a:p>
            <a:r>
              <a:rPr lang="en-US" b="1" dirty="0"/>
              <a:t>❓ "F1-Score?"</a:t>
            </a:r>
          </a:p>
          <a:p>
            <a:r>
              <a:rPr lang="en-US" dirty="0"/>
              <a:t>F1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Precision </a:t>
            </a:r>
            <a:r>
              <a:rPr lang="en-US" dirty="0" err="1"/>
              <a:t>và</a:t>
            </a:r>
            <a:r>
              <a:rPr lang="en-US" dirty="0"/>
              <a:t> Recall,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  <a:p>
            <a:r>
              <a:rPr lang="en-US" b="1" dirty="0"/>
              <a:t>❓ "ROC-AUC 99% </a:t>
            </a:r>
            <a:r>
              <a:rPr lang="en-US" b="1" dirty="0" err="1"/>
              <a:t>nghĩa</a:t>
            </a:r>
            <a:r>
              <a:rPr lang="en-US" b="1" dirty="0"/>
              <a:t>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?"</a:t>
            </a:r>
          </a:p>
          <a:p>
            <a:r>
              <a:rPr lang="en-US" dirty="0"/>
              <a:t>AUC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Trong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, ROC-AUC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61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bên</a:t>
            </a:r>
            <a:r>
              <a:rPr lang="en-US" b="1" dirty="0"/>
              <a:t> </a:t>
            </a:r>
            <a:r>
              <a:rPr lang="en-US" b="1" dirty="0" err="1"/>
              <a:t>trái</a:t>
            </a:r>
            <a:r>
              <a:rPr lang="en-US" b="1" dirty="0"/>
              <a:t> – Loss:</a:t>
            </a:r>
            <a:endParaRPr lang="en-US" dirty="0"/>
          </a:p>
          <a:p>
            <a:r>
              <a:rPr lang="en-US" dirty="0"/>
              <a:t>Loss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Train </a:t>
            </a:r>
            <a:r>
              <a:rPr lang="en-US" dirty="0" err="1"/>
              <a:t>và</a:t>
            </a:r>
            <a:r>
              <a:rPr lang="en-US" dirty="0"/>
              <a:t> Validation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Epoch,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.</a:t>
            </a:r>
          </a:p>
          <a:p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bên</a:t>
            </a:r>
            <a:r>
              <a:rPr lang="en-US" b="1" dirty="0"/>
              <a:t> </a:t>
            </a:r>
            <a:r>
              <a:rPr lang="en-US" b="1" dirty="0" err="1"/>
              <a:t>phải</a:t>
            </a:r>
            <a:r>
              <a:rPr lang="en-US" b="1" dirty="0"/>
              <a:t> – Accuracy:</a:t>
            </a:r>
            <a:endParaRPr lang="en-US" dirty="0"/>
          </a:p>
          <a:p>
            <a:r>
              <a:rPr lang="en-US" dirty="0"/>
              <a:t>Accuracy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ở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. Validation Accuracy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93–95%.</a:t>
            </a:r>
          </a:p>
          <a:p>
            <a:r>
              <a:rPr lang="en-US" dirty="0"/>
              <a:t>ResNet18 </a:t>
            </a:r>
            <a:r>
              <a:rPr lang="en-US" dirty="0" err="1"/>
              <a:t>có</a:t>
            </a:r>
            <a:r>
              <a:rPr lang="en-US" dirty="0"/>
              <a:t> Training Accuracy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99%,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Validation Accuracy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kể</a:t>
            </a:r>
            <a:r>
              <a:rPr lang="en-US" dirty="0"/>
              <a:t> →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Train,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b="1" dirty="0"/>
              <a:t>overfitting</a:t>
            </a:r>
            <a:r>
              <a:rPr lang="en-US" dirty="0"/>
              <a:t>.</a:t>
            </a:r>
          </a:p>
          <a:p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,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tụ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Validation.</a:t>
            </a:r>
          </a:p>
          <a:p>
            <a:r>
              <a:rPr lang="en-US" dirty="0"/>
              <a:t>Confusion Matrix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class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  <a:p>
            <a:r>
              <a:rPr lang="en-US" b="1" dirty="0" err="1"/>
              <a:t>Đường</a:t>
            </a:r>
            <a:r>
              <a:rPr lang="en-US" b="1" dirty="0"/>
              <a:t> </a:t>
            </a:r>
            <a:r>
              <a:rPr lang="en-US" b="1" dirty="0" err="1"/>
              <a:t>chéo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.</a:t>
            </a:r>
          </a:p>
          <a:p>
            <a:r>
              <a:rPr lang="en-US" dirty="0"/>
              <a:t>Các ô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nhầm</a:t>
            </a:r>
            <a:r>
              <a:rPr lang="en-US" dirty="0"/>
              <a:t> sang class </a:t>
            </a:r>
            <a:r>
              <a:rPr lang="en-US" dirty="0" err="1"/>
              <a:t>khác</a:t>
            </a:r>
            <a:r>
              <a:rPr lang="en-US" dirty="0"/>
              <a:t>.</a:t>
            </a:r>
          </a:p>
          <a:p>
            <a:r>
              <a:rPr lang="en-US" dirty="0" err="1"/>
              <a:t>Với</a:t>
            </a:r>
            <a:r>
              <a:rPr lang="en-US" dirty="0"/>
              <a:t> MobileNetV2,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r>
              <a:rPr lang="en-US" b="1" dirty="0"/>
              <a:t>240 + 425 + 137 + 45 + 336 + 291 = 1.474 </a:t>
            </a:r>
            <a:r>
              <a:rPr lang="en-US" b="1" dirty="0" err="1"/>
              <a:t>ảnh</a:t>
            </a:r>
            <a:endParaRPr lang="en-US" dirty="0"/>
          </a:p>
          <a:p>
            <a:r>
              <a:rPr lang="en-US" dirty="0"/>
              <a:t>→ </a:t>
            </a:r>
            <a:r>
              <a:rPr lang="en-US" b="1" dirty="0"/>
              <a:t>Accuracy = 1.474 / 1.559 = 94.55%.</a:t>
            </a:r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nhầm</a:t>
            </a:r>
            <a:r>
              <a:rPr lang="en-US" dirty="0"/>
              <a:t> </a:t>
            </a:r>
            <a:r>
              <a:rPr lang="en-US" dirty="0" err="1"/>
              <a:t>lẫn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b="1" dirty="0"/>
              <a:t>Coffee Table </a:t>
            </a:r>
            <a:r>
              <a:rPr lang="en-US" b="1" dirty="0" err="1"/>
              <a:t>và</a:t>
            </a:r>
            <a:r>
              <a:rPr lang="en-US" b="1" dirty="0"/>
              <a:t> Dining Table</a:t>
            </a:r>
            <a:r>
              <a:rPr lang="en-US" dirty="0"/>
              <a:t>, do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.</a:t>
            </a:r>
          </a:p>
          <a:p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b="1" dirty="0" err="1"/>
              <a:t>rất</a:t>
            </a:r>
            <a:r>
              <a:rPr lang="en-US" b="1" dirty="0"/>
              <a:t> </a:t>
            </a:r>
            <a:r>
              <a:rPr lang="en-US" b="1" dirty="0" err="1"/>
              <a:t>đáng</a:t>
            </a:r>
            <a:r>
              <a:rPr lang="en-US" b="1" dirty="0"/>
              <a:t> </a:t>
            </a:r>
            <a:r>
              <a:rPr lang="en-US" b="1" dirty="0" err="1"/>
              <a:t>chú</a:t>
            </a:r>
            <a:r>
              <a:rPr lang="en-US" b="1" dirty="0"/>
              <a:t> ý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endParaRPr lang="en-US" b="1" dirty="0"/>
          </a:p>
          <a:p>
            <a:r>
              <a:rPr lang="en-US" dirty="0"/>
              <a:t>MobileNetV2:</a:t>
            </a:r>
          </a:p>
          <a:p>
            <a:r>
              <a:rPr lang="en-US" dirty="0"/>
              <a:t>Coffee Table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: </a:t>
            </a:r>
            <a:r>
              <a:rPr lang="en-US" b="1" dirty="0"/>
              <a:t>45 </a:t>
            </a:r>
            <a:r>
              <a:rPr lang="en-US" b="1" dirty="0" err="1"/>
              <a:t>đúng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b="1" dirty="0"/>
              <a:t>29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đoán</a:t>
            </a:r>
            <a:r>
              <a:rPr lang="en-US" b="1" dirty="0"/>
              <a:t> </a:t>
            </a:r>
            <a:r>
              <a:rPr lang="en-US" b="1" dirty="0" err="1"/>
              <a:t>thành</a:t>
            </a:r>
            <a:r>
              <a:rPr lang="en-US" b="1" dirty="0"/>
              <a:t> Dining Table</a:t>
            </a:r>
            <a:r>
              <a:rPr lang="en-US" dirty="0"/>
              <a:t>. </a:t>
            </a:r>
          </a:p>
          <a:p>
            <a:r>
              <a:rPr lang="en-US" dirty="0"/>
              <a:t>Dining Table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: </a:t>
            </a:r>
            <a:r>
              <a:rPr lang="en-US" b="1" dirty="0"/>
              <a:t>336 </a:t>
            </a:r>
            <a:r>
              <a:rPr lang="en-US" b="1" dirty="0" err="1"/>
              <a:t>đúng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b="1" dirty="0"/>
              <a:t>15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đoán</a:t>
            </a:r>
            <a:r>
              <a:rPr lang="en-US" b="1" dirty="0"/>
              <a:t> </a:t>
            </a:r>
            <a:r>
              <a:rPr lang="en-US" b="1" dirty="0" err="1"/>
              <a:t>thành</a:t>
            </a:r>
            <a:r>
              <a:rPr lang="en-US" b="1" dirty="0"/>
              <a:t> Coffee Table</a:t>
            </a:r>
            <a:r>
              <a:rPr lang="en-US" dirty="0"/>
              <a:t>. </a:t>
            </a:r>
          </a:p>
          <a:p>
            <a:r>
              <a:rPr lang="en-US" dirty="0"/>
              <a:t>→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b="1" dirty="0" err="1"/>
              <a:t>tại</a:t>
            </a:r>
            <a:r>
              <a:rPr lang="en-US" b="1" dirty="0"/>
              <a:t> </a:t>
            </a:r>
            <a:r>
              <a:rPr lang="en-US" b="1" dirty="0" err="1"/>
              <a:t>sao</a:t>
            </a:r>
            <a:r>
              <a:rPr lang="en-US" b="1" dirty="0"/>
              <a:t> </a:t>
            </a:r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vẫn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lỗi</a:t>
            </a:r>
            <a:r>
              <a:rPr lang="en-US" b="1" dirty="0"/>
              <a:t> </a:t>
            </a:r>
            <a:r>
              <a:rPr lang="en-US" b="1" dirty="0" err="1"/>
              <a:t>dù</a:t>
            </a:r>
            <a:r>
              <a:rPr lang="en-US" b="1" dirty="0"/>
              <a:t> Accuracy </a:t>
            </a:r>
            <a:r>
              <a:rPr lang="en-US" b="1" dirty="0" err="1"/>
              <a:t>cao</a:t>
            </a:r>
            <a:r>
              <a:rPr lang="en-US" dirty="0"/>
              <a:t>.</a:t>
            </a:r>
          </a:p>
          <a:p>
            <a:r>
              <a:rPr lang="en-US" b="1" dirty="0"/>
              <a:t>ResNet18:</a:t>
            </a:r>
          </a:p>
          <a:p>
            <a:r>
              <a:rPr lang="en-US" dirty="0"/>
              <a:t>Coffee Table → Dining Table: </a:t>
            </a:r>
            <a:r>
              <a:rPr lang="en-US" b="1" dirty="0"/>
              <a:t>31 </a:t>
            </a:r>
            <a:r>
              <a:rPr lang="en-US" b="1" dirty="0" err="1"/>
              <a:t>ảnh</a:t>
            </a:r>
            <a:endParaRPr lang="en-US" dirty="0"/>
          </a:p>
          <a:p>
            <a:r>
              <a:rPr lang="en-US" dirty="0"/>
              <a:t>Dining Table → Coffee Table: </a:t>
            </a:r>
            <a:r>
              <a:rPr lang="en-US" b="1" dirty="0"/>
              <a:t>9 </a:t>
            </a:r>
            <a:r>
              <a:rPr lang="en-US" b="1" dirty="0" err="1"/>
              <a:t>ảnh</a:t>
            </a:r>
            <a:endParaRPr lang="en-US" dirty="0"/>
          </a:p>
          <a:p>
            <a:r>
              <a:rPr lang="en-US" b="1" dirty="0"/>
              <a:t>EfficientNet-B0:</a:t>
            </a:r>
          </a:p>
          <a:p>
            <a:r>
              <a:rPr lang="en-US" dirty="0"/>
              <a:t>Coffee Table → Dining Table: </a:t>
            </a:r>
            <a:r>
              <a:rPr lang="en-US" b="1" dirty="0"/>
              <a:t>24 </a:t>
            </a:r>
            <a:r>
              <a:rPr lang="en-US" b="1" dirty="0" err="1"/>
              <a:t>ảnh</a:t>
            </a:r>
            <a:endParaRPr lang="en-US" dirty="0"/>
          </a:p>
          <a:p>
            <a:r>
              <a:rPr lang="en-US" dirty="0"/>
              <a:t>Dining Table → Coffee Table: </a:t>
            </a:r>
            <a:r>
              <a:rPr lang="en-US" b="1" dirty="0"/>
              <a:t>13 </a:t>
            </a:r>
            <a:r>
              <a:rPr lang="en-US" b="1" dirty="0" err="1"/>
              <a:t>ảnh</a:t>
            </a:r>
            <a:endParaRPr lang="en-US" dirty="0"/>
          </a:p>
          <a:p>
            <a:r>
              <a:rPr lang="en-US" dirty="0"/>
              <a:t>Hai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Test Set.</a:t>
            </a:r>
          </a:p>
          <a:p>
            <a:r>
              <a:rPr lang="en-US" dirty="0" err="1"/>
              <a:t>Đường</a:t>
            </a:r>
            <a:r>
              <a:rPr lang="en-US" dirty="0"/>
              <a:t> ROC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AUC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xấp</a:t>
            </a:r>
            <a:r>
              <a:rPr lang="en-US" dirty="0"/>
              <a:t> </a:t>
            </a:r>
            <a:r>
              <a:rPr lang="en-US" dirty="0" err="1"/>
              <a:t>xỉ</a:t>
            </a:r>
            <a:r>
              <a:rPr lang="en-US" dirty="0"/>
              <a:t> 1,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.</a:t>
            </a:r>
          </a:p>
          <a:p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, PR Curve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trì</a:t>
            </a:r>
            <a:r>
              <a:rPr lang="en-US" dirty="0"/>
              <a:t> Precision ở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Recall </a:t>
            </a:r>
            <a:r>
              <a:rPr lang="en-US" dirty="0" err="1"/>
              <a:t>và</a:t>
            </a:r>
            <a:r>
              <a:rPr lang="en-US" dirty="0"/>
              <a:t> PR-AUC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0.99.</a:t>
            </a:r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Accuracy </a:t>
            </a:r>
            <a:r>
              <a:rPr lang="en-US" dirty="0" err="1"/>
              <a:t>trên</a:t>
            </a:r>
            <a:r>
              <a:rPr lang="en-US" dirty="0"/>
              <a:t> 94%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ở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/>
              <a:t>.</a:t>
            </a:r>
          </a:p>
          <a:p>
            <a:endParaRPr lang="en-US" dirty="0"/>
          </a:p>
          <a:p>
            <a:r>
              <a:rPr lang="en-US" b="1" dirty="0"/>
              <a:t>❓ "Overfitting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?"</a:t>
            </a:r>
          </a:p>
          <a:p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Train,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Train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Validation/Test </a:t>
            </a:r>
            <a:r>
              <a:rPr lang="en-US" dirty="0" err="1"/>
              <a:t>kém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69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Ở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  <a:p>
            <a:r>
              <a:rPr lang="en-US" dirty="0" err="1"/>
              <a:t>Với</a:t>
            </a:r>
            <a:r>
              <a:rPr lang="en-US" dirty="0"/>
              <a:t> Grad-CAM,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heatmap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  <a:p>
            <a:r>
              <a:rPr lang="en-US" dirty="0" err="1"/>
              <a:t>Với</a:t>
            </a:r>
            <a:r>
              <a:rPr lang="en-US" dirty="0"/>
              <a:t> OOD,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6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vi.</a:t>
            </a:r>
          </a:p>
          <a:p>
            <a:r>
              <a:rPr lang="en-US" dirty="0" err="1"/>
              <a:t>Nếu</a:t>
            </a:r>
            <a:r>
              <a:rPr lang="en-US" dirty="0"/>
              <a:t> confidence </a:t>
            </a:r>
            <a:r>
              <a:rPr lang="en-US" dirty="0" err="1"/>
              <a:t>hoặc</a:t>
            </a:r>
            <a:r>
              <a:rPr lang="en-US" dirty="0"/>
              <a:t> margin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ngưỡng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OOD.</a:t>
            </a:r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class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</a:t>
            </a:r>
          </a:p>
          <a:p>
            <a:r>
              <a:rPr lang="en-US" b="1" dirty="0"/>
              <a:t>❓ "</a:t>
            </a:r>
            <a:r>
              <a:rPr lang="en-US" b="1" dirty="0" err="1"/>
              <a:t>Nếu</a:t>
            </a:r>
            <a:r>
              <a:rPr lang="en-US" b="1" dirty="0"/>
              <a:t> </a:t>
            </a:r>
            <a:r>
              <a:rPr lang="en-US" b="1" dirty="0" err="1"/>
              <a:t>ảnh</a:t>
            </a:r>
            <a:r>
              <a:rPr lang="en-US" b="1" dirty="0"/>
              <a:t> OOD </a:t>
            </a:r>
            <a:r>
              <a:rPr lang="en-US" b="1" dirty="0" err="1"/>
              <a:t>nhưng</a:t>
            </a:r>
            <a:r>
              <a:rPr lang="en-US" b="1" dirty="0"/>
              <a:t> confidence </a:t>
            </a:r>
            <a:r>
              <a:rPr lang="en-US" b="1" dirty="0" err="1"/>
              <a:t>vẫn</a:t>
            </a:r>
            <a:r>
              <a:rPr lang="en-US" b="1" dirty="0"/>
              <a:t> 90% </a:t>
            </a:r>
            <a:r>
              <a:rPr lang="en-US" b="1" dirty="0" err="1"/>
              <a:t>thì</a:t>
            </a:r>
            <a:r>
              <a:rPr lang="en-US" b="1" dirty="0"/>
              <a:t> </a:t>
            </a:r>
            <a:r>
              <a:rPr lang="en-US" b="1" dirty="0" err="1"/>
              <a:t>sao</a:t>
            </a:r>
            <a:r>
              <a:rPr lang="en-US" b="1" dirty="0"/>
              <a:t>?"</a:t>
            </a:r>
          </a:p>
          <a:p>
            <a:r>
              <a:rPr lang="en-US" dirty="0"/>
              <a:t>Confidence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.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Margin. Khi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Confidence </a:t>
            </a:r>
            <a:r>
              <a:rPr lang="en-US" dirty="0" err="1"/>
              <a:t>và</a:t>
            </a:r>
            <a:r>
              <a:rPr lang="en-US" dirty="0"/>
              <a:t> Margin,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59D2C-9965-480F-A2C2-59DC2CA354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78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35AA025-2D3A-F973-74CE-EBAA885937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2785983" y="21465"/>
            <a:ext cx="6888974" cy="6888974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264" y="2169609"/>
            <a:ext cx="10933470" cy="167148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NGHIÊN CỨU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MẠNG NƠ-RON TÍCH CHẬP CNN 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BÀI TOÁN PHÂN LOẠI SẢN PHẨM NỘI THẤT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604D7-2D20-D3B9-D188-F03E26D58821}"/>
              </a:ext>
            </a:extLst>
          </p:cNvPr>
          <p:cNvSpPr txBox="1"/>
          <p:nvPr/>
        </p:nvSpPr>
        <p:spPr>
          <a:xfrm>
            <a:off x="3608438" y="447369"/>
            <a:ext cx="497512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Kiến Trúc Hà 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br>
              <a:rPr lang="en-US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Công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</a:t>
            </a: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C27546-B81A-5886-01A4-F3A6844E55C6}"/>
              </a:ext>
            </a:extLst>
          </p:cNvPr>
          <p:cNvCxnSpPr>
            <a:cxnSpLocks/>
          </p:cNvCxnSpPr>
          <p:nvPr/>
        </p:nvCxnSpPr>
        <p:spPr>
          <a:xfrm>
            <a:off x="4640580" y="1193466"/>
            <a:ext cx="2926080" cy="0"/>
          </a:xfrm>
          <a:prstGeom prst="line">
            <a:avLst/>
          </a:prstGeom>
          <a:ln w="31750">
            <a:solidFill>
              <a:srgbClr val="58696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E40CFB15-01D2-E12B-1817-27BEE66C4538}"/>
              </a:ext>
            </a:extLst>
          </p:cNvPr>
          <p:cNvSpPr txBox="1">
            <a:spLocks/>
          </p:cNvSpPr>
          <p:nvPr/>
        </p:nvSpPr>
        <p:spPr>
          <a:xfrm>
            <a:off x="2674620" y="4243849"/>
            <a:ext cx="7383780" cy="1234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Ths. Lương Thị Bích Phượng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Sinh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Trương Thành Nam – 2255010145</a:t>
            </a:r>
          </a:p>
          <a:p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22CN5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Nội dung chính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8404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3737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&amp;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160520" y="2199132"/>
            <a:ext cx="1417320" cy="13716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5806440" y="201168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3737"/>
                </a:solidFill>
                <a:latin typeface="Aptos"/>
              </a:defRPr>
            </a:pPr>
            <a:r>
              <a:rPr sz="1600"/>
              <a:t>Bối cảnh, mục tiêu và kiến trúc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38404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3737"/>
                </a:solidFill>
                <a:latin typeface="Aptos"/>
              </a:defRPr>
            </a:pPr>
            <a:r>
              <a:t>2. Mô hình &amp; Phương pháp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3204972"/>
            <a:ext cx="1417320" cy="13716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5806440" y="301752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3737"/>
                </a:solidFill>
                <a:latin typeface="Aptos"/>
              </a:defRPr>
            </a:pPr>
            <a:r>
              <a:rPr sz="1600" dirty="0" err="1"/>
              <a:t>Giới</a:t>
            </a:r>
            <a:r>
              <a:rPr sz="1600" dirty="0"/>
              <a:t> </a:t>
            </a:r>
            <a:r>
              <a:rPr sz="1600" dirty="0" err="1"/>
              <a:t>thiệu</a:t>
            </a:r>
            <a:r>
              <a:rPr sz="1600" dirty="0"/>
              <a:t> </a:t>
            </a:r>
            <a:r>
              <a:rPr sz="1600" dirty="0" err="1"/>
              <a:t>mô</a:t>
            </a:r>
            <a:r>
              <a:rPr sz="1600" dirty="0"/>
              <a:t> </a:t>
            </a:r>
            <a:r>
              <a:rPr sz="1600" dirty="0" err="1"/>
              <a:t>hình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quy</a:t>
            </a:r>
            <a:r>
              <a:rPr sz="1600" dirty="0"/>
              <a:t> </a:t>
            </a:r>
            <a:r>
              <a:rPr sz="1600" dirty="0" err="1"/>
              <a:t>trình</a:t>
            </a:r>
            <a:r>
              <a:rPr sz="1600" dirty="0"/>
              <a:t> </a:t>
            </a:r>
            <a:r>
              <a:rPr sz="1600" dirty="0" err="1"/>
              <a:t>xử</a:t>
            </a:r>
            <a:r>
              <a:rPr sz="1600" dirty="0"/>
              <a:t> </a:t>
            </a:r>
            <a:r>
              <a:rPr sz="1600" dirty="0" err="1"/>
              <a:t>lý</a:t>
            </a:r>
            <a:r>
              <a:rPr sz="1600" dirty="0"/>
              <a:t> </a:t>
            </a:r>
            <a:r>
              <a:rPr sz="1600" dirty="0" err="1"/>
              <a:t>của</a:t>
            </a:r>
            <a:r>
              <a:rPr sz="1600" dirty="0"/>
              <a:t> </a:t>
            </a:r>
            <a:r>
              <a:rPr sz="1600" dirty="0" err="1"/>
              <a:t>hệ</a:t>
            </a:r>
            <a:r>
              <a:rPr sz="1600" dirty="0"/>
              <a:t> </a:t>
            </a:r>
            <a:r>
              <a:rPr sz="1600" dirty="0" err="1"/>
              <a:t>thống</a:t>
            </a:r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38404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3737"/>
                </a:solidFill>
                <a:latin typeface="Aptos"/>
              </a:defRPr>
            </a:pPr>
            <a:r>
              <a:t>3. Thực nghiệm &amp; Kết quả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210812"/>
            <a:ext cx="1417320" cy="13716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5806440" y="40233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3737"/>
                </a:solidFill>
                <a:latin typeface="Aptos"/>
              </a:defRPr>
            </a:pPr>
            <a:r>
              <a:rPr sz="1600"/>
              <a:t>Mô tả dữ liệu, cách huấn luyện và kết quả thực nghiệm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7FF0AE-E09D-8E58-75ED-6B1495A666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8403" y="212033"/>
            <a:ext cx="9326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rPr lang="en-US" sz="3200" dirty="0">
                <a:latin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sz="3200" dirty="0" err="1">
                <a:latin typeface="Aptos" panose="020B0004020202020204" pitchFamily="34" charset="0"/>
                <a:cs typeface="Times New Roman" panose="02020603050405020304" pitchFamily="18" charset="0"/>
              </a:rPr>
              <a:t>Bài</a:t>
            </a:r>
            <a:r>
              <a:rPr sz="32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Aptos" panose="020B0004020202020204" pitchFamily="34" charset="0"/>
                <a:cs typeface="Times New Roman" panose="02020603050405020304" pitchFamily="18" charset="0"/>
              </a:rPr>
              <a:t>toán</a:t>
            </a:r>
            <a:r>
              <a:rPr sz="3200" dirty="0">
                <a:latin typeface="Aptos" panose="020B0004020202020204" pitchFamily="34" charset="0"/>
                <a:cs typeface="Times New Roman" panose="02020603050405020304" pitchFamily="18" charset="0"/>
              </a:rPr>
              <a:t> &amp; </a:t>
            </a:r>
            <a:r>
              <a:rPr sz="3200" dirty="0" err="1">
                <a:latin typeface="Aptos" panose="020B0004020202020204" pitchFamily="34" charset="0"/>
                <a:cs typeface="Times New Roman" panose="02020603050405020304" pitchFamily="18" charset="0"/>
              </a:rPr>
              <a:t>Giải</a:t>
            </a:r>
            <a:r>
              <a:rPr sz="32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sz="3200" dirty="0" err="1">
                <a:latin typeface="Aptos" panose="020B0004020202020204" pitchFamily="34" charset="0"/>
                <a:cs typeface="Times New Roman" panose="02020603050405020304" pitchFamily="18" charset="0"/>
              </a:rPr>
              <a:t>pháp</a:t>
            </a:r>
            <a:endParaRPr sz="32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64008" cy="19659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399032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73737"/>
                </a:solidFill>
                <a:latin typeface="Aptos"/>
              </a:defRPr>
            </a:pPr>
            <a:r>
              <a:t>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2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Khối lượng hình ảnh sản phẩm nội thất ngày càng lớn.</a:t>
            </a:r>
            <a:br/>
            <a:br/>
            <a:r>
              <a:t>Phân loại thủ công tốn thời gian, nhân lực và dễ xảy ra sai sót; các sản phẩm có hình dạng tương đồng càng làm việc nhận diện khó khăn.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64008" cy="19659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399032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73737"/>
                </a:solidFill>
                <a:latin typeface="Aptos"/>
              </a:defRPr>
            </a:pPr>
            <a:r>
              <a:t>Giải pháp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56232"/>
            <a:ext cx="4754879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Ứng dụng CNN để tự động phân loại hình ảnh sản phẩm nội thất.</a:t>
            </a:r>
            <a:br/>
            <a:br/>
            <a:r>
              <a:t>Kết hợp dự đoán, Grad-CAM và OOD để cung cấp kết quả trực quan và đáng tin cậy hơn.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78BA6F1A-A5C1-AA9C-605C-727ACD67890B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D6DB76-F0CB-A209-1604-318DFE5AE6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4E4AA8E-B7FC-A566-917D-DFDC1B09B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72" y="3657601"/>
            <a:ext cx="2463655" cy="234817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9B9B5A-AFD2-D7D7-1EF0-700D63F51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2142" y="3291840"/>
            <a:ext cx="2924775" cy="2924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&amp; Phạm vi </a:t>
            </a:r>
            <a:r>
              <a:rPr dirty="0" err="1"/>
              <a:t>nghiên</a:t>
            </a:r>
            <a:r>
              <a:rPr dirty="0"/>
              <a:t> </a:t>
            </a:r>
            <a:r>
              <a:rPr dirty="0" err="1"/>
              <a:t>cứu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10.364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01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HÌNH 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2344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801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DANH MỤC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2344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801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MÔ HÌNH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2344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801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ẢNH / LẦN DỰ ĐOÁN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5120640" cy="1677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373737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nội</a:t>
            </a:r>
            <a:r>
              <a:rPr dirty="0"/>
              <a:t> </a:t>
            </a:r>
            <a:r>
              <a:rPr dirty="0" err="1"/>
              <a:t>thất</a:t>
            </a:r>
            <a:r>
              <a:rPr dirty="0"/>
              <a:t>.</a:t>
            </a:r>
            <a:br>
              <a:rPr dirty="0"/>
            </a:br>
            <a:r>
              <a:rPr dirty="0"/>
              <a:t>• So </a:t>
            </a:r>
            <a:r>
              <a:rPr dirty="0" err="1"/>
              <a:t>sánh</a:t>
            </a:r>
            <a:r>
              <a:rPr dirty="0"/>
              <a:t> MobileNetV2, ResNet18 </a:t>
            </a:r>
            <a:r>
              <a:rPr dirty="0" err="1"/>
              <a:t>và</a:t>
            </a:r>
            <a:r>
              <a:rPr dirty="0"/>
              <a:t> EfficientNet-B0.</a:t>
            </a:r>
            <a:br>
              <a:rPr dirty="0"/>
            </a:br>
            <a:r>
              <a:rPr dirty="0"/>
              <a:t>• </a:t>
            </a:r>
            <a:r>
              <a:rPr dirty="0" err="1"/>
              <a:t>Áp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Transfer Learning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Fine-tuning.</a:t>
            </a:r>
            <a:br>
              <a:rPr dirty="0"/>
            </a:br>
            <a:r>
              <a:rPr dirty="0"/>
              <a:t>•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Grad-CAM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OOD.</a:t>
            </a:r>
            <a:br>
              <a:rPr dirty="0"/>
            </a:br>
            <a:r>
              <a:rPr dirty="0"/>
              <a:t>•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nền</a:t>
            </a:r>
            <a:r>
              <a:rPr dirty="0"/>
              <a:t> </a:t>
            </a:r>
            <a:r>
              <a:rPr dirty="0" err="1"/>
              <a:t>tảng</a:t>
            </a:r>
            <a:r>
              <a:rPr dirty="0"/>
              <a:t> Web.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43200"/>
            <a:ext cx="48463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743200"/>
            <a:ext cx="64008" cy="23774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2907792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737"/>
                </a:solidFill>
                <a:latin typeface="Aptos"/>
              </a:defRPr>
            </a:pPr>
            <a:r>
              <a:t>Phạm vi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364992"/>
            <a:ext cx="44805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rPr dirty="0"/>
              <a:t>Bar Stool · Bed · Chair</a:t>
            </a:r>
            <a:br>
              <a:rPr dirty="0"/>
            </a:br>
            <a:r>
              <a:rPr dirty="0"/>
              <a:t>Coffee Table · Dining Table · Dresser</a:t>
            </a:r>
            <a:endParaRPr lang="en-US" dirty="0"/>
          </a:p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br>
              <a:rPr dirty="0"/>
            </a:b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đơn</a:t>
            </a:r>
            <a:endParaRPr dirty="0"/>
          </a:p>
        </p:txBody>
      </p:sp>
      <p:sp>
        <p:nvSpPr>
          <p:cNvPr id="26" name="Rounded Rectangle 2">
            <a:extLst>
              <a:ext uri="{FF2B5EF4-FFF2-40B4-BE49-F238E27FC236}">
                <a16:creationId xmlns:a16="http://schemas.microsoft.com/office/drawing/2014/main" id="{B040ADA1-A963-1348-B43A-26866A72FFE2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F03A070-575F-8D6B-BD35-08298A57FD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1C77-4533-1722-F4BB-52F1A307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>
            <a:extLst>
              <a:ext uri="{FF2B5EF4-FFF2-40B4-BE49-F238E27FC236}">
                <a16:creationId xmlns:a16="http://schemas.microsoft.com/office/drawing/2014/main" id="{9F0F8B9B-3FAC-097C-EEDD-F96AA54D64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rcRect r="50113"/>
          <a:stretch>
            <a:fillRect/>
          </a:stretch>
        </p:blipFill>
        <p:spPr>
          <a:xfrm rot="1649738">
            <a:off x="3242494" y="-903391"/>
            <a:ext cx="3421281" cy="6858000"/>
          </a:xfrm>
          <a:prstGeom prst="rect">
            <a:avLst/>
          </a:prstGeom>
          <a:noFill/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B21F748-6E02-AB12-5FE4-5A115451B49F}"/>
              </a:ext>
            </a:extLst>
          </p:cNvPr>
          <p:cNvCxnSpPr>
            <a:cxnSpLocks/>
          </p:cNvCxnSpPr>
          <p:nvPr/>
        </p:nvCxnSpPr>
        <p:spPr>
          <a:xfrm flipH="1">
            <a:off x="4902933" y="-26670"/>
            <a:ext cx="3556000" cy="685800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16">
            <a:extLst>
              <a:ext uri="{FF2B5EF4-FFF2-40B4-BE49-F238E27FC236}">
                <a16:creationId xmlns:a16="http://schemas.microsoft.com/office/drawing/2014/main" id="{3132F56B-EDF9-BCBA-E934-195548AC7109}"/>
              </a:ext>
            </a:extLst>
          </p:cNvPr>
          <p:cNvSpPr/>
          <p:nvPr/>
        </p:nvSpPr>
        <p:spPr>
          <a:xfrm rot="1643015">
            <a:off x="6450722" y="-714919"/>
            <a:ext cx="6914942" cy="9779222"/>
          </a:xfrm>
          <a:custGeom>
            <a:avLst/>
            <a:gdLst>
              <a:gd name="csX0" fmla="*/ 0 w 8713578"/>
              <a:gd name="csY0" fmla="*/ 0 h 10949828"/>
              <a:gd name="csX1" fmla="*/ 8713578 w 8713578"/>
              <a:gd name="csY1" fmla="*/ 0 h 10949828"/>
              <a:gd name="csX2" fmla="*/ 8713578 w 8713578"/>
              <a:gd name="csY2" fmla="*/ 10949828 h 10949828"/>
              <a:gd name="csX3" fmla="*/ 0 w 8713578"/>
              <a:gd name="csY3" fmla="*/ 10949828 h 10949828"/>
              <a:gd name="csX4" fmla="*/ 0 w 8713578"/>
              <a:gd name="csY4" fmla="*/ 0 h 10949828"/>
              <a:gd name="csX0" fmla="*/ 32 w 8713610"/>
              <a:gd name="csY0" fmla="*/ 0 h 10949828"/>
              <a:gd name="csX1" fmla="*/ 8713610 w 8713610"/>
              <a:gd name="csY1" fmla="*/ 0 h 10949828"/>
              <a:gd name="csX2" fmla="*/ 8713610 w 8713610"/>
              <a:gd name="csY2" fmla="*/ 10949828 h 10949828"/>
              <a:gd name="csX3" fmla="*/ 32 w 8713610"/>
              <a:gd name="csY3" fmla="*/ 10949828 h 10949828"/>
              <a:gd name="csX4" fmla="*/ 5495 w 8713610"/>
              <a:gd name="csY4" fmla="*/ 8036405 h 10949828"/>
              <a:gd name="csX5" fmla="*/ 32 w 8713610"/>
              <a:gd name="csY5" fmla="*/ 0 h 109498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713610" h="10949828">
                <a:moveTo>
                  <a:pt x="32" y="0"/>
                </a:moveTo>
                <a:lnTo>
                  <a:pt x="8713610" y="0"/>
                </a:lnTo>
                <a:lnTo>
                  <a:pt x="8713610" y="10949828"/>
                </a:lnTo>
                <a:lnTo>
                  <a:pt x="32" y="10949828"/>
                </a:lnTo>
                <a:cubicBezTo>
                  <a:pt x="-520" y="9974770"/>
                  <a:pt x="6047" y="9011463"/>
                  <a:pt x="5495" y="8036405"/>
                </a:cubicBezTo>
                <a:lnTo>
                  <a:pt x="32" y="0"/>
                </a:lnTo>
                <a:close/>
              </a:path>
            </a:pathLst>
          </a:custGeom>
          <a:solidFill>
            <a:srgbClr val="ECF3FA"/>
          </a:solidFill>
          <a:ln>
            <a:noFill/>
          </a:ln>
          <a:effectLst>
            <a:glow>
              <a:schemeClr val="accent1"/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59166DF-35CF-4D4B-44A9-BBE7EAD15F26}"/>
              </a:ext>
            </a:extLst>
          </p:cNvPr>
          <p:cNvSpPr txBox="1">
            <a:spLocks/>
          </p:cNvSpPr>
          <p:nvPr/>
        </p:nvSpPr>
        <p:spPr>
          <a:xfrm>
            <a:off x="3053509" y="2744360"/>
            <a:ext cx="3400523" cy="592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4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 &amp;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6A08ABE-DC7B-99CD-6004-065604A28464}"/>
              </a:ext>
            </a:extLst>
          </p:cNvPr>
          <p:cNvCxnSpPr>
            <a:cxnSpLocks/>
          </p:cNvCxnSpPr>
          <p:nvPr/>
        </p:nvCxnSpPr>
        <p:spPr>
          <a:xfrm flipV="1">
            <a:off x="-1890697" y="5356236"/>
            <a:ext cx="1552575" cy="64770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265467D-1509-DA1B-D6BF-9BCE6D2EA158}"/>
              </a:ext>
            </a:extLst>
          </p:cNvPr>
          <p:cNvCxnSpPr>
            <a:cxnSpLocks/>
          </p:cNvCxnSpPr>
          <p:nvPr/>
        </p:nvCxnSpPr>
        <p:spPr>
          <a:xfrm>
            <a:off x="-349733" y="-4077492"/>
            <a:ext cx="1131570" cy="3648075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02C18AB-B368-FCC6-525A-F4050534DFFE}"/>
              </a:ext>
            </a:extLst>
          </p:cNvPr>
          <p:cNvCxnSpPr>
            <a:cxnSpLocks/>
          </p:cNvCxnSpPr>
          <p:nvPr/>
        </p:nvCxnSpPr>
        <p:spPr>
          <a:xfrm flipV="1">
            <a:off x="-3343599" y="3337217"/>
            <a:ext cx="2091690" cy="699135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494D9A0-F829-F722-4CBF-BAA41E82F83E}"/>
              </a:ext>
            </a:extLst>
          </p:cNvPr>
          <p:cNvCxnSpPr>
            <a:cxnSpLocks/>
          </p:cNvCxnSpPr>
          <p:nvPr/>
        </p:nvCxnSpPr>
        <p:spPr>
          <a:xfrm flipH="1">
            <a:off x="3060423" y="-3191900"/>
            <a:ext cx="661035" cy="2769870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7A5C721-B5AA-22DF-589C-49EC6E8D79A5}"/>
              </a:ext>
            </a:extLst>
          </p:cNvPr>
          <p:cNvCxnSpPr>
            <a:cxnSpLocks/>
          </p:cNvCxnSpPr>
          <p:nvPr/>
        </p:nvCxnSpPr>
        <p:spPr>
          <a:xfrm flipH="1">
            <a:off x="-3061701" y="2019732"/>
            <a:ext cx="1793240" cy="1278255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3991ABC-19CE-7B9C-E153-BFA7FD4EB6F3}"/>
              </a:ext>
            </a:extLst>
          </p:cNvPr>
          <p:cNvCxnSpPr>
            <a:cxnSpLocks/>
          </p:cNvCxnSpPr>
          <p:nvPr/>
        </p:nvCxnSpPr>
        <p:spPr>
          <a:xfrm flipH="1">
            <a:off x="2027702" y="-1806965"/>
            <a:ext cx="121920" cy="1464945"/>
          </a:xfrm>
          <a:prstGeom prst="line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Picture 89">
            <a:extLst>
              <a:ext uri="{FF2B5EF4-FFF2-40B4-BE49-F238E27FC236}">
                <a16:creationId xmlns:a16="http://schemas.microsoft.com/office/drawing/2014/main" id="{33CB35E6-6EB8-3C17-E9BF-C75EE299ECE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7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50255"/>
          <a:stretch>
            <a:fillRect/>
          </a:stretch>
        </p:blipFill>
        <p:spPr>
          <a:xfrm rot="1649738">
            <a:off x="6277944" y="670283"/>
            <a:ext cx="3411543" cy="6858000"/>
          </a:xfrm>
          <a:prstGeom prst="rect">
            <a:avLst/>
          </a:prstGeom>
          <a:noFill/>
        </p:spPr>
      </p:pic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8AC09261-7C65-4929-FBF6-49C4F50143D3}"/>
              </a:ext>
            </a:extLst>
          </p:cNvPr>
          <p:cNvSpPr txBox="1">
            <a:spLocks/>
          </p:cNvSpPr>
          <p:nvPr/>
        </p:nvSpPr>
        <p:spPr>
          <a:xfrm>
            <a:off x="6027420" y="2758850"/>
            <a:ext cx="3556000" cy="592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Phương </a:t>
            </a:r>
            <a:r>
              <a:rPr lang="en-US" sz="4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pháp</a:t>
            </a:r>
            <a:endParaRPr lang="en-US" sz="40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589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&amp; Phương </a:t>
            </a:r>
            <a:r>
              <a:rPr dirty="0" err="1"/>
              <a:t>pháp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246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64008" cy="361188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4904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73737"/>
                </a:solidFill>
                <a:latin typeface="Aptos"/>
              </a:defRPr>
            </a:pPr>
            <a:r>
              <a:t>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28803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trích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Image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Convolution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Feature Extraction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Classification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246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64008" cy="361188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4904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73737"/>
                </a:solidFill>
                <a:latin typeface="Aptos"/>
              </a:defRPr>
            </a:pPr>
            <a:r>
              <a:t>Transfer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47672"/>
            <a:ext cx="28803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Tận dụng trọng số của mô hình đã được huấn luyện trước trên ImageNet để giảm thời gian và dữ liệu cần thiết cho bài toán mới.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325880"/>
            <a:ext cx="32461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1325880"/>
            <a:ext cx="64008" cy="361188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149047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73737"/>
                </a:solidFill>
                <a:latin typeface="Aptos"/>
              </a:defRPr>
            </a:pPr>
            <a:r>
              <a:t>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1947672"/>
            <a:ext cx="28803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Tiếp tục điều chỉnh một phần hoặc toàn bộ trọng số của mô hình tiền huấn luyện để phù hợp với đặc trưng của dữ liệu nội thất.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492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87D2"/>
                </a:solidFill>
                <a:latin typeface="Aptos"/>
              </a:defRPr>
            </a:pPr>
            <a:r>
              <a:t>ImageNet → Pre-trained CNN → Furniture Dataset → Fine-tuning → Classifier</a:t>
            </a:r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32AD2425-6596-0F66-E957-AFC03E782AF1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D175BDF-676F-1E21-5EE8-612F20D6AC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Ba mô hình CNN được nghiên cứu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64008" cy="35661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904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73737"/>
                </a:solidFill>
                <a:latin typeface="Aptos"/>
              </a:defRPr>
            </a:pPr>
            <a:r>
              <a:t>MobileNetV2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47672"/>
            <a:ext cx="310896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• Lightweight CNN</a:t>
            </a:r>
            <a:br/>
            <a:r>
              <a:t>• Kích thước nhỏ</a:t>
            </a:r>
            <a:br/>
            <a:r>
              <a:t>• Suy luận nhanh</a:t>
            </a:r>
            <a:br/>
            <a:br/>
            <a:r>
              <a:t>Phù hợp với yêu cầu triển khai trên hệ thống Web.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64008" cy="35661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4904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73737"/>
                </a:solidFill>
                <a:latin typeface="Aptos"/>
              </a:defRPr>
            </a:pPr>
            <a:r>
              <a:t>ResNet18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947672"/>
            <a:ext cx="310896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• Residual Network</a:t>
            </a:r>
            <a:br/>
            <a:r>
              <a:t>• Skip Connection</a:t>
            </a:r>
            <a:br/>
            <a:r>
              <a:t>• Huấn luyện ổn định</a:t>
            </a:r>
            <a:br/>
            <a:br/>
            <a:r>
              <a:t>Được sử dụng để đối chiếu hiệu năng.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64008" cy="35661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4904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73737"/>
                </a:solidFill>
                <a:latin typeface="Aptos"/>
              </a:defRPr>
            </a:pPr>
            <a:r>
              <a:t>EfficientNet-B0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947672"/>
            <a:ext cx="310896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• Compound Scaling</a:t>
            </a:r>
            <a:br/>
            <a:r>
              <a:t>• Tối ưu hiệu quả</a:t>
            </a:r>
            <a:br/>
            <a:r>
              <a:t>• Cân bằng hiệu năng và chi phí tính toán.</a:t>
            </a: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E6486358-5344-A435-B1F8-6743906A63B9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60CA0AB-A3A1-143F-5D9E-673CDEDB4B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Tiền xử lý &amp; tăng cường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057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8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1828800"/>
            <a:ext cx="1371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F8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3737"/>
                </a:solidFill>
                <a:latin typeface="Aptos"/>
              </a:defRPr>
            </a:pPr>
            <a:r>
              <a:t>RGB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057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8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1828800"/>
            <a:ext cx="1371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F8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3737"/>
                </a:solidFill>
                <a:latin typeface="Aptos"/>
              </a:defRPr>
            </a:pPr>
            <a:r>
              <a:t>224×224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057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8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828800"/>
            <a:ext cx="1371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F8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3737"/>
                </a:solidFill>
                <a:latin typeface="Aptos"/>
              </a:defRPr>
            </a:pPr>
            <a:r>
              <a:t>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057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8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28800"/>
            <a:ext cx="1371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F8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3737"/>
                </a:solidFill>
                <a:latin typeface="Aptos"/>
              </a:defRPr>
            </a:pPr>
            <a:r>
              <a:t>Tensor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2057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8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1828800"/>
            <a:ext cx="1371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F8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73737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154680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154680"/>
            <a:ext cx="64008" cy="14630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33192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3737"/>
                </a:solidFill>
                <a:latin typeface="Aptos"/>
              </a:defRPr>
            </a:pPr>
            <a:r>
              <a:t>Random Horizontal Flip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776472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p = 0.5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154680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3154680"/>
            <a:ext cx="64008" cy="14630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33192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3737"/>
                </a:solidFill>
                <a:latin typeface="Aptos"/>
              </a:defRPr>
            </a:pPr>
            <a:r>
              <a:t>Random Rotation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776472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±15°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154680"/>
            <a:ext cx="30632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154680"/>
            <a:ext cx="64008" cy="14630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33192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3737"/>
                </a:solidFill>
                <a:latin typeface="Aptos"/>
              </a:defRPr>
            </a:pPr>
            <a:r>
              <a:t>ColorJitter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776472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6636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3737"/>
                </a:solidFill>
                <a:latin typeface="Aptos"/>
              </a:defRPr>
            </a:pPr>
            <a:r>
              <a:t>Augmentation chỉ áp dụng cho Train; Validation và Test được giữ nguyên.</a:t>
            </a:r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9E081534-88E7-8496-DEB9-2AFB794C8168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95B1446-5E8A-FF31-0C04-9CBAFCDE5E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9493659-8DB3-3EF1-B6D4-4E73AC1BE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1522593"/>
            <a:ext cx="1270230" cy="13896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Quy trình Fine-tuning 2 giai đoạn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337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64008" cy="342900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5361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73737"/>
                </a:solidFill>
                <a:latin typeface="Aptos"/>
              </a:defRPr>
            </a:pPr>
            <a:r>
              <a:t>Pre-trained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Khởi tạo từ trọng số đã học trên ImageNet.</a:t>
            </a:r>
            <a:br/>
            <a:br/>
            <a:r>
              <a:t>Giữ lại khả năng trích xuất đặc trưng tổng quát.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2606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8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71600"/>
            <a:ext cx="3337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371600"/>
            <a:ext cx="64008" cy="342900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153619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73737"/>
                </a:solidFill>
                <a:latin typeface="Aptos"/>
              </a:defRPr>
            </a:pPr>
            <a:r>
              <a:t>Giai đoạn 1 · 10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993392"/>
            <a:ext cx="29718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Freeze Backbone</a:t>
            </a:r>
            <a:br/>
            <a:br/>
            <a:r>
              <a:t>Chỉ huấn luyện lớp phân loại mới.</a:t>
            </a:r>
            <a:br/>
            <a:br/>
            <a:r>
              <a:t>Giúp mô hình nhanh chóng thích nghi với dữ liệu nội thất.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6060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87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371600"/>
            <a:ext cx="32461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371600"/>
            <a:ext cx="64008" cy="342900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2208" y="153619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73737"/>
                </a:solidFill>
                <a:latin typeface="Aptos"/>
              </a:defRPr>
            </a:pPr>
            <a:r>
              <a:t>Giai đoạn 2 · 20 Epochs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1993392"/>
            <a:ext cx="28803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Unfreeze toàn bộ mô hình.</a:t>
            </a:r>
            <a:br/>
            <a:br/>
            <a:r>
              <a:t>Tiếp tục tinh chỉnh trọng số với tốc độ học thấp hơn.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257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87D2"/>
                </a:solidFill>
                <a:latin typeface="Aptos"/>
              </a:defRPr>
            </a:pPr>
            <a:r>
              <a:rPr dirty="0"/>
              <a:t>30 Epochs · Batch Size = 32 · Adam · Cross-Entropy Loss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9125496A-E83E-5D66-1764-ED0BAEBFE58A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5CFD177-1CB2-BCDA-7375-17C89772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Grad-CAM &amp; 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45719" cy="21945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904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73737"/>
                </a:solidFill>
                <a:latin typeface="Aptos"/>
              </a:defRPr>
            </a:pPr>
            <a:r>
              <a:t>GRAD-CAM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48920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: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đưa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quyết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Trích</a:t>
            </a:r>
            <a:r>
              <a:rPr dirty="0"/>
              <a:t> </a:t>
            </a:r>
            <a:r>
              <a:rPr dirty="0" err="1"/>
              <a:t>xuất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r>
              <a:rPr dirty="0"/>
              <a:t> → </a:t>
            </a:r>
            <a:r>
              <a:rPr dirty="0" err="1"/>
              <a:t>Tính</a:t>
            </a:r>
            <a:r>
              <a:rPr dirty="0"/>
              <a:t> Heatmap → </a:t>
            </a:r>
            <a:r>
              <a:rPr dirty="0" err="1"/>
              <a:t>Chồng</a:t>
            </a:r>
            <a:r>
              <a:rPr dirty="0"/>
              <a:t> </a:t>
            </a:r>
            <a:r>
              <a:rPr dirty="0" err="1"/>
              <a:t>lên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gốc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Ví</a:t>
            </a:r>
            <a:r>
              <a:rPr dirty="0"/>
              <a:t> </a:t>
            </a:r>
            <a:r>
              <a:rPr dirty="0" err="1"/>
              <a:t>dụ</a:t>
            </a:r>
            <a:r>
              <a:rPr dirty="0"/>
              <a:t>: </a:t>
            </a:r>
            <a:r>
              <a:rPr dirty="0" err="1"/>
              <a:t>mặt</a:t>
            </a:r>
            <a:r>
              <a:rPr dirty="0"/>
              <a:t> </a:t>
            </a:r>
            <a:r>
              <a:rPr dirty="0" err="1"/>
              <a:t>ghế</a:t>
            </a:r>
            <a:r>
              <a:rPr dirty="0"/>
              <a:t>, </a:t>
            </a:r>
            <a:r>
              <a:rPr dirty="0" err="1"/>
              <a:t>chân</a:t>
            </a:r>
            <a:r>
              <a:rPr dirty="0"/>
              <a:t> </a:t>
            </a:r>
            <a:r>
              <a:rPr dirty="0" err="1"/>
              <a:t>ghế</a:t>
            </a:r>
            <a:r>
              <a:rPr dirty="0"/>
              <a:t>, </a:t>
            </a:r>
            <a:r>
              <a:rPr dirty="0" err="1"/>
              <a:t>mặt</a:t>
            </a:r>
            <a:r>
              <a:rPr lang="en-US" dirty="0"/>
              <a:t> </a:t>
            </a:r>
            <a:r>
              <a:rPr lang="en-US" dirty="0" err="1"/>
              <a:t>giường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45719" cy="21945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4904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73737"/>
                </a:solidFill>
                <a:latin typeface="Aptos"/>
              </a:defRPr>
            </a:pPr>
            <a:r>
              <a:t>OOD – OUT-OF-DISTRIBUTION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947672"/>
            <a:ext cx="48920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96969"/>
                </a:solidFill>
                <a:latin typeface="Aptos"/>
              </a:defRPr>
            </a:pPr>
            <a:r>
              <a:t>Mục tiêu: phát hiện ảnh không thuộc sáu danh mục nội thất.</a:t>
            </a:r>
            <a:br/>
            <a:br/>
            <a:r>
              <a:t>Confidence ≥ 50% và Margin ≥ 25% → chấp nhận.</a:t>
            </a:r>
            <a:br/>
            <a:br/>
            <a:r>
              <a:t>Nếu một trong hai điều kiện không đạt → cảnh báo OOD.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0B6BEAC2-4047-8129-AB26-86E4108D12E3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8DB162-B023-932B-4CB0-4EA557B77E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  <p:pic>
        <p:nvPicPr>
          <p:cNvPr id="23" name="Picture 22" descr="Grad-CAM Overlay">
            <a:extLst>
              <a:ext uri="{FF2B5EF4-FFF2-40B4-BE49-F238E27FC236}">
                <a16:creationId xmlns:a16="http://schemas.microsoft.com/office/drawing/2014/main" id="{34B0C87F-4753-901A-4460-C1D4F8C45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848" y="3995927"/>
            <a:ext cx="2463873" cy="24638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5F30F6C-83C0-85D2-C695-DAF5797BD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4" y="3905794"/>
            <a:ext cx="2463872" cy="2463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28C87D5-4199-3D2F-A1A1-46D80DE9083E}"/>
              </a:ext>
            </a:extLst>
          </p:cNvPr>
          <p:cNvCxnSpPr/>
          <p:nvPr/>
        </p:nvCxnSpPr>
        <p:spPr>
          <a:xfrm>
            <a:off x="3406140" y="5128260"/>
            <a:ext cx="13182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C8BC-1B4E-2578-0DB5-C364FCF1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279330-1B39-9500-FB16-9C5CE57F116F}"/>
              </a:ext>
            </a:extLst>
          </p:cNvPr>
          <p:cNvSpPr/>
          <p:nvPr/>
        </p:nvSpPr>
        <p:spPr>
          <a:xfrm>
            <a:off x="12192000" y="7147560"/>
            <a:ext cx="4770120" cy="4693920"/>
          </a:xfrm>
          <a:prstGeom prst="roundRect">
            <a:avLst>
              <a:gd name="adj" fmla="val 6170"/>
            </a:avLst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92FEE95-6AFA-8A4F-A9A7-D043859CE386}"/>
              </a:ext>
            </a:extLst>
          </p:cNvPr>
          <p:cNvSpPr txBox="1">
            <a:spLocks/>
          </p:cNvSpPr>
          <p:nvPr/>
        </p:nvSpPr>
        <p:spPr>
          <a:xfrm>
            <a:off x="1362075" y="2753090"/>
            <a:ext cx="6730365" cy="592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US" sz="4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nghiệm</a:t>
            </a:r>
            <a:r>
              <a:rPr 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 &amp; </a:t>
            </a:r>
            <a:r>
              <a:rPr lang="en-US" sz="4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Kết</a:t>
            </a:r>
            <a:r>
              <a:rPr lang="en-US" sz="4000" b="1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quả</a:t>
            </a:r>
            <a:endParaRPr lang="en-US" sz="4000" b="1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91E926AE-44BE-5B70-40F1-26C1FE570FF4}"/>
              </a:ext>
            </a:extLst>
          </p:cNvPr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91352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10.364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6420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TỔNG 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0972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7.252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66420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TRAIN ·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0972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1.553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6420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VALIDATION · 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0972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1.559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66420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TEST · 15%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BEF1FF9D-256E-87DB-2576-58AB0EB7405A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3B2E94-5CA9-6FBF-0CE4-8F78B1FB2F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324B00B-D693-990F-35E4-78C4B5BE7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97" y="2020625"/>
            <a:ext cx="5969726" cy="21256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0D6306E-0C9D-6844-2513-B03C5C568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38891"/>
            <a:ext cx="6153680" cy="20716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329184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9CDDE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Bộ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10.364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6420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TỔNG 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0972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7.252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66420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TRAIN ·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0972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1.553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6420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VALIDATION · 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0972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F87D2"/>
                </a:solidFill>
                <a:latin typeface="Aptos"/>
              </a:defRPr>
            </a:pPr>
            <a:r>
              <a:t>1.559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664207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96969"/>
                </a:solidFill>
                <a:latin typeface="Aptos"/>
              </a:defRPr>
            </a:pPr>
            <a:r>
              <a:t>TEST · 15%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94360" y="2514600"/>
          <a:ext cx="6812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Danh mục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Val.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Test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Tổng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Bar Stool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1.220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261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262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1.743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Bed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1.182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253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254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1.689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Chair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1.260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270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270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1.800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Coffee Table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1.190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255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256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1.701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Dining Table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1.210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259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260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1.729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Dresser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1.190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255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257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1.702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Tổng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7.252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1.553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1.559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10.364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4E7685C8-A3B7-08BF-0B63-06D692F4AC2E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5C78F7-379F-120A-D534-48B840A2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Môi trường thực nghiệm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64008" cy="35661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490472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73737"/>
                </a:solidFill>
                <a:latin typeface="Aptos"/>
              </a:defRPr>
            </a:pPr>
            <a:r>
              <a:rPr dirty="0"/>
              <a:t>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47672"/>
            <a:ext cx="4709159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96969"/>
                </a:solidFill>
                <a:latin typeface="Aptos"/>
              </a:defRPr>
            </a:pPr>
            <a:r>
              <a:t>GPU: NVIDIA GeForce RTX 3050 Ti Laptop GPU (4 GB VRAM)</a:t>
            </a:r>
            <a:br/>
            <a:r>
              <a:t>CPU: Intel Core i7-11800H</a:t>
            </a:r>
            <a:br/>
            <a:r>
              <a:t>RAM: 16 GB DDR4</a:t>
            </a:r>
            <a:br/>
            <a:r>
              <a:t>Storage: 512 GB NVMe SSD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64008" cy="356616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90472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73737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947672"/>
            <a:ext cx="4709159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96969"/>
                </a:solidFill>
                <a:latin typeface="Aptos"/>
              </a:defRPr>
            </a:pPr>
            <a:r>
              <a:t>OS: Windows 11 64-bit</a:t>
            </a:r>
            <a:br/>
            <a:r>
              <a:t>Environment: Miniconda3 (furniture_env)</a:t>
            </a:r>
            <a:br/>
            <a:r>
              <a:t>Python: 3.11.15</a:t>
            </a:r>
            <a:br/>
            <a:r>
              <a:t>PyTorch: 2.5.1 (+cu211)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87D2"/>
                </a:solidFill>
                <a:latin typeface="Aptos"/>
              </a:defRPr>
            </a:pPr>
            <a:r>
              <a:t>Ba mô hình được huấn luyện và đánh giá trên cùng một môi trường.</a:t>
            </a:r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53F01D24-D28F-2E8F-0C90-3768CA594067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172095-1F65-8C4B-C109-A55FBAA6F4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Kết quả thực nghiệm – Test Set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6583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Chỉ số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MobileNetV2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ResNet18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EfficientNet-B0</a:t>
                      </a:r>
                    </a:p>
                  </a:txBody>
                  <a:tcPr marL="36576" marR="36576" anchor="ctr">
                    <a:solidFill>
                      <a:srgbClr val="3F87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rPr dirty="0"/>
                        <a:t>Accuracy (%)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94.55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94.48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94.16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rPr dirty="0"/>
                        <a:t>Precision (%)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94.45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94.28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93.97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rPr dirty="0"/>
                        <a:t>Recall (%)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94.55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94.48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94.16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rPr dirty="0"/>
                        <a:t>F1-Score (%)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94.43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94.29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94.03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rPr dirty="0"/>
                        <a:t>ROC-AUC (%)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99.61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99.58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99.63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rPr dirty="0"/>
                        <a:t>PR-AUC (%)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97.54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t>97.56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0">
                          <a:solidFill>
                            <a:srgbClr val="373737"/>
                          </a:solidFill>
                          <a:latin typeface="Aptos"/>
                        </a:defRPr>
                      </a:pPr>
                      <a:r>
                        <a:rPr dirty="0"/>
                        <a:t>97.57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52360" y="141732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23760" y="44348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73737"/>
                </a:solidFill>
                <a:latin typeface="Aptos"/>
              </a:defRPr>
            </a:pPr>
            <a:r>
              <a:t>Cả ba mô hình đạt Accuracy trên 94%.</a:t>
            </a:r>
            <a:br/>
            <a:r>
              <a:t>MobileNetV2 đạt 94.55% trên Test Set.</a:t>
            </a: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B455795D-E2D7-6602-C2EA-001FAFB37229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36CABC-C68B-52D7-A3A1-F9360F8E839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Phân tích kết quả qua biểu đồ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35378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135378"/>
            <a:ext cx="64008" cy="14630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129996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3737"/>
                </a:solidFill>
                <a:latin typeface="Aptos"/>
              </a:defRPr>
            </a:pPr>
            <a:r>
              <a:t>Hội tụ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175717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rPr dirty="0"/>
              <a:t>Loss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Accuracy </a:t>
            </a:r>
            <a:r>
              <a:rPr dirty="0" err="1"/>
              <a:t>tăng</a:t>
            </a:r>
            <a:r>
              <a:rPr dirty="0"/>
              <a:t>;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huấn</a:t>
            </a:r>
            <a:r>
              <a:rPr dirty="0"/>
              <a:t> </a:t>
            </a:r>
            <a:r>
              <a:rPr dirty="0" err="1"/>
              <a:t>luyện</a:t>
            </a:r>
            <a:r>
              <a:rPr dirty="0"/>
              <a:t> </a:t>
            </a:r>
            <a:r>
              <a:rPr dirty="0" err="1"/>
              <a:t>ổn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6978" y="502768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76978" y="5027680"/>
            <a:ext cx="64008" cy="14630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8146" y="519227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3737"/>
                </a:solidFill>
                <a:latin typeface="Aptos"/>
              </a:defRPr>
            </a:pPr>
            <a:r>
              <a:t>Nhầm lẫn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8146" y="564947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t>Một số nhầm lẫn chủ yếu giữa Coffee Table và Dining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105149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46520" y="3105149"/>
            <a:ext cx="64008" cy="14630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7688" y="32697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3737"/>
                </a:solidFill>
                <a:latin typeface="Aptos"/>
              </a:defRPr>
            </a:pPr>
            <a:r>
              <a:t>Khả năng phân biệt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726941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t>ROC-AUC và PR-AUC ở mức cao trên tập kiểm thử.</a:t>
            </a:r>
          </a:p>
        </p:txBody>
      </p:sp>
      <p:sp>
        <p:nvSpPr>
          <p:cNvPr id="24" name="Rounded Rectangle 2">
            <a:extLst>
              <a:ext uri="{FF2B5EF4-FFF2-40B4-BE49-F238E27FC236}">
                <a16:creationId xmlns:a16="http://schemas.microsoft.com/office/drawing/2014/main" id="{290BB305-FB21-FF3F-390B-F12AC3482A3F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774AE69-D992-688B-4F17-E2463A3DF9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2663655-26C7-EC93-DCF3-D56FE4480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83" y="896112"/>
            <a:ext cx="5407197" cy="19311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61FC79-911F-F5D2-6B19-940FE14E7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" y="2920217"/>
            <a:ext cx="5760720" cy="1600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D555BB1-7D95-6EFE-D90B-0BBFAC778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539" y="4683089"/>
            <a:ext cx="5396484" cy="2120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Kiểm thử Grad-CAM &amp; OOD trên hệ thống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3737"/>
                </a:solidFill>
                <a:latin typeface="Aptos"/>
              </a:defRPr>
            </a:pPr>
            <a:r>
              <a:t>Grad-CAM tập trung vào các vùng đặc trưng của sản phẩm như mặt ghế, chân ghế và mặt bàn.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800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3737"/>
                </a:solidFill>
                <a:latin typeface="Aptos"/>
              </a:defRPr>
            </a:pPr>
            <a:r>
              <a:t>Ảnh ngoài phạm vi nhận diện được cảnh báo OOD thay vì chấp nhận kết quả phân loại.</a:t>
            </a:r>
          </a:p>
        </p:txBody>
      </p:sp>
      <p:sp>
        <p:nvSpPr>
          <p:cNvPr id="17" name="Rounded Rectangle 2">
            <a:extLst>
              <a:ext uri="{FF2B5EF4-FFF2-40B4-BE49-F238E27FC236}">
                <a16:creationId xmlns:a16="http://schemas.microsoft.com/office/drawing/2014/main" id="{85CB007B-3898-8A79-40AD-DC391BCDCD56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52DE16-A2A7-FFD1-F1D4-2226564732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  <p:pic>
        <p:nvPicPr>
          <p:cNvPr id="20" name="Picture 19" descr="Heatmap">
            <a:extLst>
              <a:ext uri="{FF2B5EF4-FFF2-40B4-BE49-F238E27FC236}">
                <a16:creationId xmlns:a16="http://schemas.microsoft.com/office/drawing/2014/main" id="{478AD666-318F-F76C-EAB2-CB2FF1440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" y="1175385"/>
            <a:ext cx="2205990" cy="2205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 descr="Heatmap">
            <a:extLst>
              <a:ext uri="{FF2B5EF4-FFF2-40B4-BE49-F238E27FC236}">
                <a16:creationId xmlns:a16="http://schemas.microsoft.com/office/drawing/2014/main" id="{ED036889-583E-B173-E571-D81E9D4903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2206942"/>
            <a:ext cx="2265045" cy="2265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0CC7A5-4753-12A6-C46B-7A4BFFBCE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488" y="1472755"/>
            <a:ext cx="5652992" cy="2999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452360" y="-182880"/>
            <a:ext cx="4937760" cy="7315200"/>
          </a:xfrm>
          <a:prstGeom prst="parallelogram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9696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34747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73737"/>
                </a:solidFill>
                <a:latin typeface="Aptos"/>
              </a:defRPr>
            </a:pPr>
            <a:r>
              <a:t>Kết luận &amp; Hướng phát triển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64008" cy="132588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3533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737"/>
                </a:solidFill>
                <a:latin typeface="Aptos"/>
              </a:defRPr>
            </a:pPr>
            <a:r>
              <a:t>10.364 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10512"/>
            <a:ext cx="23774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t>6 danh mục sản phẩm nội thất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18872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188720"/>
            <a:ext cx="64008" cy="132588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3533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737"/>
                </a:solidFill>
                <a:latin typeface="Aptos"/>
              </a:defRPr>
            </a:pPr>
            <a:r>
              <a:t>3 mô hình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810512"/>
            <a:ext cx="23774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t>Accuracy trên 94%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18872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92240" y="1188720"/>
            <a:ext cx="64008" cy="132588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93407" y="13533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737"/>
                </a:solidFill>
                <a:latin typeface="Aptos"/>
              </a:defRPr>
            </a:pPr>
            <a:r>
              <a:t>94.55%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7" y="1810512"/>
            <a:ext cx="21488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rPr dirty="0"/>
              <a:t>Accuracy – MobileNetV2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1887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1188720"/>
            <a:ext cx="64008" cy="132588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36608" y="135331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3737"/>
                </a:solidFill>
                <a:latin typeface="Aptos"/>
              </a:defRPr>
            </a:pPr>
            <a:r>
              <a:t>22.4 ms/ảnh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1810512"/>
            <a:ext cx="19659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96969"/>
                </a:solidFill>
                <a:latin typeface="Aptos"/>
              </a:defRPr>
            </a:pPr>
            <a:r>
              <a:t>Suy luận – MobileNetV2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834640"/>
            <a:ext cx="5074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2834640"/>
            <a:ext cx="64008" cy="21488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2999232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73737"/>
                </a:solidFill>
                <a:latin typeface="Aptos"/>
              </a:defRPr>
            </a:pPr>
            <a:r>
              <a:t>Kết quả đạt được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456432"/>
            <a:ext cx="470915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rPr dirty="0"/>
              <a:t>• Transfer Learning + Fine-tuning</a:t>
            </a:r>
            <a:br>
              <a:rPr dirty="0"/>
            </a:br>
            <a:r>
              <a:rPr dirty="0"/>
              <a:t>• Grad-CAM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dirty="0" err="1"/>
              <a:t>vùng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trưng</a:t>
            </a:r>
            <a:br>
              <a:rPr dirty="0"/>
            </a:br>
            <a:r>
              <a:rPr dirty="0"/>
              <a:t>• OOD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</a:t>
            </a:r>
            <a:r>
              <a:rPr dirty="0" err="1"/>
              <a:t>ngoài</a:t>
            </a:r>
            <a:r>
              <a:rPr dirty="0"/>
              <a:t> </a:t>
            </a:r>
            <a:r>
              <a:rPr dirty="0" err="1"/>
              <a:t>phạm</a:t>
            </a:r>
            <a:r>
              <a:rPr dirty="0"/>
              <a:t> vi</a:t>
            </a:r>
            <a:br>
              <a:rPr dirty="0"/>
            </a:br>
            <a:r>
              <a:rPr dirty="0"/>
              <a:t>• Web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FastAPI</a:t>
            </a:r>
            <a:r>
              <a:rPr dirty="0"/>
              <a:t> + Vue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834640"/>
            <a:ext cx="50749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2834640"/>
            <a:ext cx="64008" cy="2148840"/>
          </a:xfrm>
          <a:prstGeom prst="rect">
            <a:avLst/>
          </a:prstGeom>
          <a:solidFill>
            <a:srgbClr val="3F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2999232"/>
            <a:ext cx="4709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73737"/>
                </a:solidFill>
                <a:latin typeface="Aptos"/>
              </a:defRPr>
            </a:pPr>
            <a:r>
              <a:t>Hướng phát triển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456432"/>
            <a:ext cx="47091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6969"/>
                </a:solidFill>
                <a:latin typeface="Aptos"/>
              </a:defRPr>
            </a:pPr>
            <a:r>
              <a:t>• Mở rộng và đa dạng hóa dữ liệu</a:t>
            </a:r>
            <a:br/>
            <a:r>
              <a:t>• Bổ sung lớp Unknown</a:t>
            </a:r>
            <a:br/>
            <a:r>
              <a:t>• Nghiên cứu ViT, ConvNeXt, CNN–Transformer</a:t>
            </a:r>
            <a:br/>
            <a:r>
              <a:t>• Object Detection và Mobile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623560"/>
            <a:ext cx="841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87D2"/>
                </a:solidFill>
                <a:latin typeface="Aptos"/>
              </a:defRPr>
            </a:pPr>
            <a:r>
              <a:rPr dirty="0"/>
              <a:t>CẢM ƠN CÔ VÀ CÁC BẠN ĐÃ LẮNG NGHE!</a:t>
            </a:r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C3EF456F-EAF1-87F3-DB6D-D60FF053CA55}"/>
              </a:ext>
            </a:extLst>
          </p:cNvPr>
          <p:cNvSpPr/>
          <p:nvPr/>
        </p:nvSpPr>
        <p:spPr>
          <a:xfrm>
            <a:off x="164592" y="164592"/>
            <a:ext cx="658368" cy="658368"/>
          </a:xfrm>
          <a:prstGeom prst="roundRect">
            <a:avLst/>
          </a:prstGeom>
          <a:noFill/>
          <a:ln>
            <a:solidFill>
              <a:srgbClr val="B9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824858D-9880-B269-D891-17F5DBFCB5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185883" y="185883"/>
            <a:ext cx="637077" cy="63707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3462</Words>
  <Application>Microsoft Office PowerPoint</Application>
  <PresentationFormat>Widescreen</PresentationFormat>
  <Paragraphs>344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Office Theme</vt:lpstr>
      <vt:lpstr>Đề tài: NGHIÊN CỨU ỨNG DỤNG MẠNG NƠ-RON TÍCH CHẬP CNN  TRONG BÀI TOÁN PHÂN LOẠI SẢN PHẨM NỘI THẤT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2255010145 - Trương Thành Nam</cp:lastModifiedBy>
  <cp:revision>43</cp:revision>
  <dcterms:created xsi:type="dcterms:W3CDTF">2013-01-27T09:14:16Z</dcterms:created>
  <dcterms:modified xsi:type="dcterms:W3CDTF">2026-09-16T16:18:05Z</dcterms:modified>
  <cp:category/>
</cp:coreProperties>
</file>